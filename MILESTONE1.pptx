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1" r:id="rId4"/>
    <p:sldId id="260" r:id="rId5"/>
    <p:sldId id="262" r:id="rId6"/>
    <p:sldId id="263" r:id="rId7"/>
    <p:sldId id="264" r:id="rId8"/>
    <p:sldId id="266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FEF7-E194-8871-3F30-D9688497F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1722" y="1788453"/>
            <a:ext cx="9640956" cy="2296529"/>
          </a:xfrm>
        </p:spPr>
        <p:txBody>
          <a:bodyPr/>
          <a:lstStyle/>
          <a:p>
            <a:pPr algn="l"/>
            <a:r>
              <a:rPr lang="en-IN" sz="4000" b="1" dirty="0" err="1">
                <a:solidFill>
                  <a:schemeClr val="accent3">
                    <a:lumMod val="50000"/>
                  </a:schemeClr>
                </a:solidFill>
              </a:rPr>
              <a:t>Inventra</a:t>
            </a:r>
            <a:r>
              <a:rPr lang="en-IN" sz="8000" b="1" dirty="0">
                <a:solidFill>
                  <a:schemeClr val="accent3">
                    <a:lumMod val="50000"/>
                  </a:schemeClr>
                </a:solidFill>
              </a:rPr>
              <a:t> – </a:t>
            </a:r>
            <a:r>
              <a:rPr lang="en-IN" sz="4000" b="1" dirty="0">
                <a:solidFill>
                  <a:schemeClr val="accent3">
                    <a:lumMod val="50000"/>
                  </a:schemeClr>
                </a:solidFill>
              </a:rPr>
              <a:t>Intelligent Inventory Management System</a:t>
            </a:r>
            <a:endParaRPr lang="en-IN" sz="8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ECBBC7-F66F-1DA0-CD13-A1C1B9B5AFDF}"/>
              </a:ext>
            </a:extLst>
          </p:cNvPr>
          <p:cNvSpPr/>
          <p:nvPr/>
        </p:nvSpPr>
        <p:spPr>
          <a:xfrm>
            <a:off x="6659217" y="4492487"/>
            <a:ext cx="4204253" cy="6957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Nitish </a:t>
            </a:r>
            <a:r>
              <a:rPr lang="en-IN" dirty="0" err="1"/>
              <a:t>kumar</a:t>
            </a:r>
            <a:r>
              <a:rPr lang="en-IN" dirty="0"/>
              <a:t> chaudhary</a:t>
            </a:r>
          </a:p>
        </p:txBody>
      </p:sp>
    </p:spTree>
    <p:extLst>
      <p:ext uri="{BB962C8B-B14F-4D97-AF65-F5344CB8AC3E}">
        <p14:creationId xmlns:p14="http://schemas.microsoft.com/office/powerpoint/2010/main" val="2553065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6B6F1-53E4-F3A4-1CD2-B934F06A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 err="1">
                <a:solidFill>
                  <a:srgbClr val="C00000"/>
                </a:solidFill>
              </a:rPr>
              <a:t>Inventra</a:t>
            </a:r>
            <a:r>
              <a:rPr lang="en-US" sz="2400" b="1" dirty="0">
                <a:solidFill>
                  <a:srgbClr val="C00000"/>
                </a:solidFill>
              </a:rPr>
              <a:t> = Inventory + Intelligent Automation</a:t>
            </a:r>
            <a:br>
              <a:rPr lang="en-US" sz="2400" dirty="0"/>
            </a:br>
            <a:r>
              <a:rPr lang="en-US" sz="2400" dirty="0"/>
              <a:t>A smart, automated system that continuously monitors stock, handles routine tasks, and enhances decision-making for efficient inventory management..</a:t>
            </a:r>
            <a:endParaRPr lang="en-IN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4EDEDCB-7A10-73F8-E859-53292DD324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35696" y="2171700"/>
            <a:ext cx="7901609" cy="4175743"/>
          </a:xfrm>
        </p:spPr>
      </p:pic>
    </p:spTree>
    <p:extLst>
      <p:ext uri="{BB962C8B-B14F-4D97-AF65-F5344CB8AC3E}">
        <p14:creationId xmlns:p14="http://schemas.microsoft.com/office/powerpoint/2010/main" val="2944179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662E9-A2B0-45EB-A6E0-11ADE6234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330" y="1788454"/>
            <a:ext cx="9690653" cy="1183346"/>
          </a:xfrm>
        </p:spPr>
        <p:txBody>
          <a:bodyPr/>
          <a:lstStyle/>
          <a:p>
            <a:r>
              <a:rPr lang="sv-SE" sz="5400" b="1" dirty="0">
                <a:solidFill>
                  <a:srgbClr val="C00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Agenda</a:t>
            </a:r>
            <a:r>
              <a:rPr lang="sv-SE" sz="4800" dirty="0"/>
              <a:t>  </a:t>
            </a:r>
            <a:endParaRPr lang="en-IN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BCEC0-18ED-A16E-EBA8-01EE2D145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9298" y="3210845"/>
            <a:ext cx="6831673" cy="1086237"/>
          </a:xfrm>
        </p:spPr>
        <p:txBody>
          <a:bodyPr/>
          <a:lstStyle/>
          <a:p>
            <a:r>
              <a:rPr lang="sv-SE" sz="2400" dirty="0"/>
              <a:t>Inventra-Intelligent Inventory Management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750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44BCB-952E-5937-5235-0A0C4F4A7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82187"/>
            <a:ext cx="9601200" cy="84482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Existing System </a:t>
            </a:r>
            <a:r>
              <a:rPr lang="en-IN" sz="3200" dirty="0">
                <a:solidFill>
                  <a:schemeClr val="accent4">
                    <a:lumMod val="50000"/>
                  </a:schemeClr>
                </a:solidFill>
              </a:rPr>
              <a:t>-</a:t>
            </a:r>
            <a:r>
              <a:rPr lang="en-IN" sz="3200" dirty="0"/>
              <a:t>(</a:t>
            </a:r>
            <a:r>
              <a:rPr lang="en-IN" sz="3200" i="1" dirty="0"/>
              <a:t>Challenges Faced</a:t>
            </a:r>
            <a:r>
              <a:rPr lang="en-IN" sz="3200" dirty="0"/>
              <a:t>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44CFB59-8933-B645-6D15-9C224EBB27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1272211"/>
            <a:ext cx="4880114" cy="4313579"/>
          </a:xfrm>
        </p:spPr>
        <p:txBody>
          <a:bodyPr/>
          <a:lstStyle/>
          <a:p>
            <a:r>
              <a:rPr lang="en-IN" sz="1600" b="1" dirty="0"/>
              <a:t>Poor demand forecasting</a:t>
            </a:r>
          </a:p>
          <a:p>
            <a:endParaRPr lang="en-IN" sz="1600" b="1" dirty="0"/>
          </a:p>
          <a:p>
            <a:r>
              <a:rPr lang="en-IN" sz="1600" b="1" dirty="0"/>
              <a:t>Overstock</a:t>
            </a:r>
          </a:p>
          <a:p>
            <a:endParaRPr lang="en-IN" sz="1600" b="1" dirty="0"/>
          </a:p>
          <a:p>
            <a:r>
              <a:rPr lang="en-IN" sz="1600" b="1" dirty="0"/>
              <a:t>Understock</a:t>
            </a:r>
          </a:p>
          <a:p>
            <a:endParaRPr lang="en-IN" sz="1600" b="1" dirty="0"/>
          </a:p>
          <a:p>
            <a:r>
              <a:rPr lang="en-US" sz="1600" b="1" dirty="0"/>
              <a:t>Inefficient tracking and ordering systems</a:t>
            </a:r>
          </a:p>
          <a:p>
            <a:endParaRPr lang="en-US" sz="1600" b="1" dirty="0"/>
          </a:p>
          <a:p>
            <a:r>
              <a:rPr lang="en-IN" sz="1600" b="1" dirty="0"/>
              <a:t>Poor visibility into inventory</a:t>
            </a:r>
          </a:p>
          <a:p>
            <a:endParaRPr lang="en-IN" sz="1600" b="1" dirty="0"/>
          </a:p>
          <a:p>
            <a:r>
              <a:rPr lang="en-IN" sz="1600" b="1" dirty="0"/>
              <a:t>Manual Documentation</a:t>
            </a:r>
            <a:endParaRPr lang="en-IN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2F52DE-1AF2-C60D-E5CA-EF4DECA9FC77}"/>
              </a:ext>
            </a:extLst>
          </p:cNvPr>
          <p:cNvCxnSpPr/>
          <p:nvPr/>
        </p:nvCxnSpPr>
        <p:spPr>
          <a:xfrm>
            <a:off x="1371600" y="1769165"/>
            <a:ext cx="40452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3EBF692D-0F84-7D79-9656-29272C5274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24625" y="1550504"/>
            <a:ext cx="5352636" cy="3925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A35A1FD-90C9-5BE3-216E-4F5F0AE3A4EB}"/>
              </a:ext>
            </a:extLst>
          </p:cNvPr>
          <p:cNvCxnSpPr/>
          <p:nvPr/>
        </p:nvCxnSpPr>
        <p:spPr>
          <a:xfrm>
            <a:off x="1371600" y="2637183"/>
            <a:ext cx="40452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932819-7D87-7852-F3A1-3218A8746292}"/>
              </a:ext>
            </a:extLst>
          </p:cNvPr>
          <p:cNvCxnSpPr/>
          <p:nvPr/>
        </p:nvCxnSpPr>
        <p:spPr>
          <a:xfrm>
            <a:off x="1371600" y="3342860"/>
            <a:ext cx="404522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180B10-03B0-CB92-A460-7C6FA976DD39}"/>
              </a:ext>
            </a:extLst>
          </p:cNvPr>
          <p:cNvCxnSpPr/>
          <p:nvPr/>
        </p:nvCxnSpPr>
        <p:spPr>
          <a:xfrm>
            <a:off x="1371600" y="4147930"/>
            <a:ext cx="40452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607090-65F1-3D73-6C40-046CA35AC0DC}"/>
              </a:ext>
            </a:extLst>
          </p:cNvPr>
          <p:cNvCxnSpPr/>
          <p:nvPr/>
        </p:nvCxnSpPr>
        <p:spPr>
          <a:xfrm>
            <a:off x="1371600" y="4946373"/>
            <a:ext cx="404522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45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AD63-1FC0-9EF6-6BBD-B0D738526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Smart Proposed System to Resolve Key Issues</a:t>
            </a:r>
            <a:endParaRPr lang="en-IN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BBF98DC-448E-B25E-3ECB-C80AA237A5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3727044"/>
              </p:ext>
            </p:extLst>
          </p:nvPr>
        </p:nvGraphicFramePr>
        <p:xfrm>
          <a:off x="1219201" y="1898373"/>
          <a:ext cx="9753600" cy="4422912"/>
        </p:xfrm>
        <a:graphic>
          <a:graphicData uri="http://schemas.openxmlformats.org/drawingml/2006/table">
            <a:tbl>
              <a:tblPr/>
              <a:tblGrid>
                <a:gridCol w="4638520">
                  <a:extLst>
                    <a:ext uri="{9D8B030D-6E8A-4147-A177-3AD203B41FA5}">
                      <a16:colId xmlns:a16="http://schemas.microsoft.com/office/drawing/2014/main" val="2366957622"/>
                    </a:ext>
                  </a:extLst>
                </a:gridCol>
                <a:gridCol w="5115080">
                  <a:extLst>
                    <a:ext uri="{9D8B030D-6E8A-4147-A177-3AD203B41FA5}">
                      <a16:colId xmlns:a16="http://schemas.microsoft.com/office/drawing/2014/main" val="626915652"/>
                    </a:ext>
                  </a:extLst>
                </a:gridCol>
              </a:tblGrid>
              <a:tr h="453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Focus Area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Smart Solutions by Inventra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48636"/>
                  </a:ext>
                </a:extLst>
              </a:tr>
              <a:tr h="793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Automation &amp; Tech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Automates stock updates, billing, and tracking with real-time syncing.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88887"/>
                  </a:ext>
                </a:extLst>
              </a:tr>
              <a:tr h="793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Data-Driven Decisions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Provides dashboards, analytics, and real-time reports.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117426"/>
                  </a:ext>
                </a:extLst>
              </a:tr>
              <a:tr h="793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Inventory Control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expiry alerts, batch tracking, alert when stock becomes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267279"/>
                  </a:ext>
                </a:extLst>
              </a:tr>
              <a:tr h="793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Warehouse / Store Optimization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Improves item arrangement, fast retrieval, and automated location tracking.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909140"/>
                  </a:ext>
                </a:extLst>
              </a:tr>
              <a:tr h="793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Supporting two roles</a:t>
                      </a:r>
                      <a:endParaRPr lang="en-IN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Admin &amp; Employee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800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832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F68264-C9C1-2432-B10F-2B5E6098E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776" y="1162289"/>
            <a:ext cx="8361229" cy="656572"/>
          </a:xfrm>
        </p:spPr>
        <p:txBody>
          <a:bodyPr/>
          <a:lstStyle/>
          <a:p>
            <a:r>
              <a:rPr lang="en-IN" sz="4000" b="1" dirty="0">
                <a:solidFill>
                  <a:srgbClr val="C00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Number of Modules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9A384AE-7CC6-0C62-48AF-22E61F825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165" y="1898374"/>
            <a:ext cx="8706678" cy="3717823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IN" sz="2400" dirty="0"/>
              <a:t>Authentication &amp; Role Control</a:t>
            </a:r>
          </a:p>
          <a:p>
            <a:pPr marL="457200" indent="-457200" algn="l">
              <a:buFont typeface="+mj-lt"/>
              <a:buAutoNum type="arabicPeriod"/>
            </a:pPr>
            <a:endParaRPr lang="en-IN" sz="2400" dirty="0"/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/>
              <a:t>Product Management &amp; Stock Updates</a:t>
            </a:r>
          </a:p>
          <a:p>
            <a:pPr marL="457200" indent="-457200" algn="l">
              <a:buFont typeface="+mj-lt"/>
              <a:buAutoNum type="arabicPeriod"/>
            </a:pPr>
            <a:endParaRPr lang="en-IN" sz="2400" dirty="0"/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/>
              <a:t>Low-Stock Alerts</a:t>
            </a:r>
          </a:p>
          <a:p>
            <a:pPr marL="457200" indent="-457200" algn="l">
              <a:buFont typeface="+mj-lt"/>
              <a:buAutoNum type="arabicPeriod"/>
            </a:pPr>
            <a:endParaRPr lang="en-IN" sz="2400" dirty="0"/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/>
              <a:t>Transaction Logs &amp; Movement Tracking</a:t>
            </a:r>
          </a:p>
          <a:p>
            <a:pPr marL="457200" indent="-457200" algn="l">
              <a:buFont typeface="+mj-lt"/>
              <a:buAutoNum type="arabicPeriod"/>
            </a:pPr>
            <a:endParaRPr lang="en-IN" sz="2400" dirty="0"/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/>
              <a:t>Reports &amp; Data Export</a:t>
            </a:r>
          </a:p>
          <a:p>
            <a:pPr algn="l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52370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0CEA-5716-8AB8-64AF-DBEAB31BE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1467521"/>
            <a:ext cx="9601200" cy="1485900"/>
          </a:xfrm>
        </p:spPr>
        <p:txBody>
          <a:bodyPr>
            <a:normAutofit/>
          </a:bodyPr>
          <a:lstStyle/>
          <a:p>
            <a:r>
              <a:rPr lang="en-IN" sz="2000" b="1" dirty="0"/>
              <a:t>Authentication &amp; Role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640B5-862C-FDBA-07FE-260557551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9944" y="2020750"/>
            <a:ext cx="3631096" cy="1520687"/>
          </a:xfrm>
        </p:spPr>
        <p:txBody>
          <a:bodyPr>
            <a:normAutofit/>
          </a:bodyPr>
          <a:lstStyle/>
          <a:p>
            <a:r>
              <a:rPr lang="en-IN" sz="1400" dirty="0"/>
              <a:t>JWT –based authentication working</a:t>
            </a:r>
          </a:p>
          <a:p>
            <a:r>
              <a:rPr lang="en-IN" sz="1400" dirty="0"/>
              <a:t>Admin can create employee accounts</a:t>
            </a:r>
          </a:p>
          <a:p>
            <a:r>
              <a:rPr lang="en-IN" sz="1400" dirty="0"/>
              <a:t>Restrict access on role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608AB1-B1D3-45EE-294A-26B7CBF9BF78}"/>
              </a:ext>
            </a:extLst>
          </p:cNvPr>
          <p:cNvSpPr txBox="1">
            <a:spLocks/>
          </p:cNvSpPr>
          <p:nvPr/>
        </p:nvSpPr>
        <p:spPr>
          <a:xfrm>
            <a:off x="5178287" y="2112170"/>
            <a:ext cx="4081669" cy="1520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/>
              <a:t>Admin can access user management page.</a:t>
            </a:r>
          </a:p>
          <a:p>
            <a:r>
              <a:rPr lang="en-IN" sz="1400" dirty="0"/>
              <a:t>Employee cannot access admin –only screen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D2C63A-5BF8-46F4-5151-3860DC956BCF}"/>
              </a:ext>
            </a:extLst>
          </p:cNvPr>
          <p:cNvSpPr txBox="1">
            <a:spLocks/>
          </p:cNvSpPr>
          <p:nvPr/>
        </p:nvSpPr>
        <p:spPr>
          <a:xfrm>
            <a:off x="5794513" y="3945628"/>
            <a:ext cx="5357191" cy="72555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Log every stock update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When a new carton of noodles arrives –stock-in when a customer buys 2 units-stock-out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E3C8FF-7683-406E-625A-A65B272C6883}"/>
              </a:ext>
            </a:extLst>
          </p:cNvPr>
          <p:cNvSpPr txBox="1">
            <a:spLocks/>
          </p:cNvSpPr>
          <p:nvPr/>
        </p:nvSpPr>
        <p:spPr>
          <a:xfrm>
            <a:off x="1295400" y="1808300"/>
            <a:ext cx="9601200" cy="1159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6C9270-03C2-6812-942E-84ED38D526F2}"/>
              </a:ext>
            </a:extLst>
          </p:cNvPr>
          <p:cNvSpPr txBox="1">
            <a:spLocks/>
          </p:cNvSpPr>
          <p:nvPr/>
        </p:nvSpPr>
        <p:spPr>
          <a:xfrm>
            <a:off x="1371600" y="3820769"/>
            <a:ext cx="4316896" cy="7255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Add/Edit/Delete products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Store </a:t>
            </a:r>
            <a:r>
              <a:rPr lang="en-IN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product,name</a:t>
            </a: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, </a:t>
            </a:r>
            <a:r>
              <a:rPr lang="en-IN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supplier,category,price</a:t>
            </a:r>
            <a:endParaRPr lang="en-I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Stock –in stock –out screens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F8448D-2BE8-05C3-D3F5-9D484F958D9C}"/>
              </a:ext>
            </a:extLst>
          </p:cNvPr>
          <p:cNvSpPr txBox="1">
            <a:spLocks/>
          </p:cNvSpPr>
          <p:nvPr/>
        </p:nvSpPr>
        <p:spPr>
          <a:xfrm>
            <a:off x="1371600" y="3105356"/>
            <a:ext cx="9677400" cy="725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Product Management &amp; Stock Updates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1827D4-3B44-A071-E7F0-62FC181AE0FA}"/>
              </a:ext>
            </a:extLst>
          </p:cNvPr>
          <p:cNvSpPr txBox="1">
            <a:spLocks/>
          </p:cNvSpPr>
          <p:nvPr/>
        </p:nvSpPr>
        <p:spPr>
          <a:xfrm>
            <a:off x="1480931" y="5047008"/>
            <a:ext cx="9601200" cy="725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Low-Stock Alerts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E218AC-3D5B-F35F-9507-ABBF14CE4915}"/>
              </a:ext>
            </a:extLst>
          </p:cNvPr>
          <p:cNvSpPr txBox="1">
            <a:spLocks/>
          </p:cNvSpPr>
          <p:nvPr/>
        </p:nvSpPr>
        <p:spPr>
          <a:xfrm>
            <a:off x="1444487" y="5785610"/>
            <a:ext cx="4350026" cy="7255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Set threshold per product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Show alerts on dashboard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0E6F2D7-8FB3-3245-2A7A-CD1FB9F9F73A}"/>
              </a:ext>
            </a:extLst>
          </p:cNvPr>
          <p:cNvSpPr txBox="1">
            <a:spLocks/>
          </p:cNvSpPr>
          <p:nvPr/>
        </p:nvSpPr>
        <p:spPr>
          <a:xfrm>
            <a:off x="4856922" y="5785610"/>
            <a:ext cx="4724400" cy="7255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Send </a:t>
            </a:r>
            <a:r>
              <a:rPr lang="en-IN" sz="1400" dirty="0">
                <a:solidFill>
                  <a:srgbClr val="C00000"/>
                </a:solidFill>
              </a:rPr>
              <a:t>email/SMS </a:t>
            </a: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alerts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Ex:-If bread packet threshold=12 and current stock=9-&gt;</a:t>
            </a:r>
            <a:r>
              <a:rPr lang="en-IN" sz="1400" dirty="0">
                <a:solidFill>
                  <a:srgbClr val="C00000"/>
                </a:solidFill>
              </a:rPr>
              <a:t>Alert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F8559B-6A0B-ACA3-4375-CCF4B8AA963F}"/>
              </a:ext>
            </a:extLst>
          </p:cNvPr>
          <p:cNvSpPr/>
          <p:nvPr/>
        </p:nvSpPr>
        <p:spPr>
          <a:xfrm>
            <a:off x="2415209" y="278296"/>
            <a:ext cx="7812156" cy="8071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sz="2800" b="1" dirty="0">
                <a:solidFill>
                  <a:srgbClr val="C00000"/>
                </a:solidFill>
                <a:effectLst/>
              </a:rPr>
              <a:t>WORKING</a:t>
            </a:r>
            <a:endParaRPr lang="en-IN" b="1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19386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24FD9-B039-93B3-B679-6919016FD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7293-DDF5-2967-E300-50F8CC816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369941"/>
            <a:ext cx="9601200" cy="1485900"/>
          </a:xfrm>
        </p:spPr>
        <p:txBody>
          <a:bodyPr>
            <a:normAutofit/>
          </a:bodyPr>
          <a:lstStyle/>
          <a:p>
            <a:r>
              <a:rPr lang="en-IN" sz="2000" b="1" dirty="0"/>
              <a:t>Transaction Logs &amp; Movement </a:t>
            </a:r>
            <a:r>
              <a:rPr lang="en-IN" sz="2000" b="1" dirty="0" err="1"/>
              <a:t>Tracting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0C23D-5AA2-EAA7-7FE0-6A4646533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4669" y="2369863"/>
            <a:ext cx="3631096" cy="1520687"/>
          </a:xfrm>
        </p:spPr>
        <p:txBody>
          <a:bodyPr>
            <a:normAutofit/>
          </a:bodyPr>
          <a:lstStyle/>
          <a:p>
            <a:r>
              <a:rPr lang="en-IN" sz="1400" dirty="0"/>
              <a:t>Record purchase / sale</a:t>
            </a:r>
          </a:p>
          <a:p>
            <a:r>
              <a:rPr lang="en-IN" sz="1400" dirty="0"/>
              <a:t>Date , quantity, user , type</a:t>
            </a:r>
          </a:p>
          <a:p>
            <a:r>
              <a:rPr lang="en-IN" sz="1400" dirty="0"/>
              <a:t>Real – time stock update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694615-C22B-D2BA-DA6F-E9BE8E8EC0E3}"/>
              </a:ext>
            </a:extLst>
          </p:cNvPr>
          <p:cNvSpPr txBox="1">
            <a:spLocks/>
          </p:cNvSpPr>
          <p:nvPr/>
        </p:nvSpPr>
        <p:spPr>
          <a:xfrm>
            <a:off x="5025887" y="2369862"/>
            <a:ext cx="4081669" cy="1520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/>
              <a:t>Show movement history on dashboard.</a:t>
            </a:r>
          </a:p>
          <a:p>
            <a:r>
              <a:rPr lang="en-IN" sz="1400" dirty="0"/>
              <a:t>Ex- on 3 dec , 2025 -&gt; Employee x sold 4 units of product y.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C7DD17-EC97-575B-A821-CEDF0BD00699}"/>
              </a:ext>
            </a:extLst>
          </p:cNvPr>
          <p:cNvSpPr txBox="1">
            <a:spLocks/>
          </p:cNvSpPr>
          <p:nvPr/>
        </p:nvSpPr>
        <p:spPr>
          <a:xfrm>
            <a:off x="5045765" y="4955687"/>
            <a:ext cx="5357191" cy="72555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Export to PDF/CSV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Ex- Owner needs monthly purchase / sale report for accounting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8DC0EC-54C4-0ECC-5CBF-068A38FC2730}"/>
              </a:ext>
            </a:extLst>
          </p:cNvPr>
          <p:cNvSpPr txBox="1">
            <a:spLocks/>
          </p:cNvSpPr>
          <p:nvPr/>
        </p:nvSpPr>
        <p:spPr>
          <a:xfrm>
            <a:off x="1295400" y="1808300"/>
            <a:ext cx="9601200" cy="1159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CFA26A-1A31-37A4-1CE7-0D97F30098D5}"/>
              </a:ext>
            </a:extLst>
          </p:cNvPr>
          <p:cNvSpPr txBox="1">
            <a:spLocks/>
          </p:cNvSpPr>
          <p:nvPr/>
        </p:nvSpPr>
        <p:spPr>
          <a:xfrm>
            <a:off x="1295400" y="4671597"/>
            <a:ext cx="4316896" cy="7255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Current stock report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Low stock report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Date – wise transactions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05A04A2-70A9-6931-C4E7-42A92A3D98DC}"/>
              </a:ext>
            </a:extLst>
          </p:cNvPr>
          <p:cNvSpPr txBox="1">
            <a:spLocks/>
          </p:cNvSpPr>
          <p:nvPr/>
        </p:nvSpPr>
        <p:spPr>
          <a:xfrm>
            <a:off x="1533939" y="3819936"/>
            <a:ext cx="9677400" cy="725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Reports &amp; Export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583087C-872B-4AC7-74B5-046586C2D7BE}"/>
              </a:ext>
            </a:extLst>
          </p:cNvPr>
          <p:cNvSpPr txBox="1">
            <a:spLocks/>
          </p:cNvSpPr>
          <p:nvPr/>
        </p:nvSpPr>
        <p:spPr>
          <a:xfrm>
            <a:off x="1533939" y="3598791"/>
            <a:ext cx="9601200" cy="725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2733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611C4E3-95E0-E653-D5B5-B6C5E7E5A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450524"/>
            <a:ext cx="8580594" cy="924929"/>
          </a:xfrm>
        </p:spPr>
        <p:txBody>
          <a:bodyPr/>
          <a:lstStyle/>
          <a:p>
            <a:r>
              <a:rPr lang="en-IN" sz="4000" b="1" dirty="0">
                <a:solidFill>
                  <a:srgbClr val="C00000"/>
                </a:solidFill>
              </a:rPr>
              <a:t>System Configuration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A2695BF-7D89-8676-3ACC-9B6AB2B1F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9588" y="2803340"/>
            <a:ext cx="6831673" cy="108623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Hardware requirement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Software requirement</a:t>
            </a:r>
          </a:p>
        </p:txBody>
      </p:sp>
    </p:spTree>
    <p:extLst>
      <p:ext uri="{BB962C8B-B14F-4D97-AF65-F5344CB8AC3E}">
        <p14:creationId xmlns:p14="http://schemas.microsoft.com/office/powerpoint/2010/main" val="3263307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71FD-0CC6-FF91-773B-EF1E58ECE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061" y="233570"/>
            <a:ext cx="9601200" cy="979004"/>
          </a:xfrm>
        </p:spPr>
        <p:txBody>
          <a:bodyPr/>
          <a:lstStyle/>
          <a:p>
            <a:r>
              <a:rPr lang="en-IN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486AF-A44A-D040-6EB6-E009E4AA2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670" y="1033670"/>
            <a:ext cx="11032434" cy="2474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                                                                       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 </a:t>
            </a:r>
          </a:p>
          <a:p>
            <a:endParaRPr lang="en-IN" sz="1800" dirty="0"/>
          </a:p>
          <a:p>
            <a:endParaRPr lang="en-IN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27304-7EE1-DCD2-B141-A35FAFB01339}"/>
              </a:ext>
            </a:extLst>
          </p:cNvPr>
          <p:cNvSpPr/>
          <p:nvPr/>
        </p:nvSpPr>
        <p:spPr>
          <a:xfrm>
            <a:off x="6310934" y="3036403"/>
            <a:ext cx="4116455" cy="12722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Services : Stock, Product, User, Report</a:t>
            </a: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027CF5-74A0-37F0-2940-D28ED2CD252B}"/>
              </a:ext>
            </a:extLst>
          </p:cNvPr>
          <p:cNvSpPr/>
          <p:nvPr/>
        </p:nvSpPr>
        <p:spPr>
          <a:xfrm>
            <a:off x="6515100" y="1033670"/>
            <a:ext cx="3622813" cy="14014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IN" dirty="0"/>
              <a:t> Backend  : - Java Spring Boot</a:t>
            </a:r>
          </a:p>
          <a:p>
            <a:pPr algn="ctr"/>
            <a:r>
              <a:rPr lang="en-IN" dirty="0"/>
              <a:t>Business logic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9C0E42-BF07-E78F-1286-815C9F8C274B}"/>
              </a:ext>
            </a:extLst>
          </p:cNvPr>
          <p:cNvSpPr/>
          <p:nvPr/>
        </p:nvSpPr>
        <p:spPr>
          <a:xfrm>
            <a:off x="1053548" y="1033670"/>
            <a:ext cx="3776869" cy="14014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IN" dirty="0"/>
              <a:t> Frontend : - React/Angular/Html</a:t>
            </a:r>
          </a:p>
          <a:p>
            <a:pPr algn="ctr"/>
            <a:r>
              <a:rPr lang="en-IN" dirty="0"/>
              <a:t>UI for Admin &amp; Employee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CB4EFF-65EB-8A9D-EA76-AF8D0BEF4774}"/>
              </a:ext>
            </a:extLst>
          </p:cNvPr>
          <p:cNvSpPr/>
          <p:nvPr/>
        </p:nvSpPr>
        <p:spPr>
          <a:xfrm>
            <a:off x="1229967" y="2981738"/>
            <a:ext cx="3442253" cy="13268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Authentication : JWT</a:t>
            </a:r>
          </a:p>
          <a:p>
            <a:r>
              <a:rPr lang="en-IN" dirty="0"/>
              <a:t>----------Secure communication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17EBDF-B2AE-8F5D-31E1-8E0C90EAFD5E}"/>
              </a:ext>
            </a:extLst>
          </p:cNvPr>
          <p:cNvSpPr/>
          <p:nvPr/>
        </p:nvSpPr>
        <p:spPr>
          <a:xfrm>
            <a:off x="1229967" y="4855264"/>
            <a:ext cx="4116454" cy="12722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Database : - MySQL/PostgreSQL</a:t>
            </a:r>
          </a:p>
          <a:p>
            <a:r>
              <a:rPr lang="en-IN" dirty="0"/>
              <a:t>--------Users, products, stock</a:t>
            </a:r>
          </a:p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D6C6A7-6520-6092-9776-7C111EF4626D}"/>
              </a:ext>
            </a:extLst>
          </p:cNvPr>
          <p:cNvSpPr txBox="1"/>
          <p:nvPr/>
        </p:nvSpPr>
        <p:spPr>
          <a:xfrm>
            <a:off x="6310934" y="5306703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Notification engine : Email/SMS</a:t>
            </a:r>
          </a:p>
        </p:txBody>
      </p:sp>
    </p:spTree>
    <p:extLst>
      <p:ext uri="{BB962C8B-B14F-4D97-AF65-F5344CB8AC3E}">
        <p14:creationId xmlns:p14="http://schemas.microsoft.com/office/powerpoint/2010/main" val="2151091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277E30-D33C-0FB2-9314-0397B2424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1112593"/>
            <a:ext cx="8361229" cy="1086237"/>
          </a:xfrm>
        </p:spPr>
        <p:txBody>
          <a:bodyPr/>
          <a:lstStyle/>
          <a:p>
            <a:r>
              <a:rPr lang="en-IN" sz="4000" dirty="0">
                <a:solidFill>
                  <a:srgbClr val="C00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Authentication &amp; Role Control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7AE1E0A-57F5-769E-5213-6FD65C3A2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9358" y="2525044"/>
            <a:ext cx="6831673" cy="1977381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It manages user authentication, role-based access, and permissions to ensure that only authorized personnel can view or modify inventory operations.</a:t>
            </a:r>
            <a:br>
              <a:rPr lang="en-US" sz="16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This module acts as the security backbone of the system, protecting sensitive stock data and controlling what each user is allowed to do inside the application.</a:t>
            </a:r>
            <a:endParaRPr lang="en-IN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098" name="Picture 2" descr="Role-Based Access Control (RBAC) in Flutter UI">
            <a:extLst>
              <a:ext uri="{FF2B5EF4-FFF2-40B4-BE49-F238E27FC236}">
                <a16:creationId xmlns:a16="http://schemas.microsoft.com/office/drawing/2014/main" id="{0BEE4B69-5420-1C1C-B8EF-73FABA4BD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531" y="4385246"/>
            <a:ext cx="3846443" cy="1625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664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87901-0FC3-B22D-DDB1-8C0A4E486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45165"/>
            <a:ext cx="3210339" cy="745435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USER CLASS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0FC4B-59C9-A673-66EF-31A897A0C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062" y="4114637"/>
            <a:ext cx="4055165" cy="10748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AUTHENTICATION CLASS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b="1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2E27D8-8500-FDEB-3CE3-A4173F982530}"/>
              </a:ext>
            </a:extLst>
          </p:cNvPr>
          <p:cNvSpPr txBox="1">
            <a:spLocks/>
          </p:cNvSpPr>
          <p:nvPr/>
        </p:nvSpPr>
        <p:spPr>
          <a:xfrm>
            <a:off x="1371600" y="892864"/>
            <a:ext cx="2445026" cy="74543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75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b="1" dirty="0"/>
            </a:b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00E10D1-C920-02C7-D02D-370472A85915}"/>
              </a:ext>
            </a:extLst>
          </p:cNvPr>
          <p:cNvSpPr txBox="1">
            <a:spLocks/>
          </p:cNvSpPr>
          <p:nvPr/>
        </p:nvSpPr>
        <p:spPr>
          <a:xfrm>
            <a:off x="1371600" y="701535"/>
            <a:ext cx="6450496" cy="181306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325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900" b="1" dirty="0"/>
          </a:p>
          <a:p>
            <a:r>
              <a:rPr lang="en-US" sz="5500" dirty="0"/>
              <a:t>Represents each person who uses the system.</a:t>
            </a:r>
            <a:br>
              <a:rPr lang="en-US" sz="5500" dirty="0"/>
            </a:br>
            <a:r>
              <a:rPr lang="en-US" sz="5500" dirty="0"/>
              <a:t>Stores essential user information used during login and role assignment.</a:t>
            </a:r>
          </a:p>
          <a:p>
            <a:endParaRPr lang="en-US" sz="5500" dirty="0"/>
          </a:p>
          <a:p>
            <a:r>
              <a:rPr lang="en-US" sz="5500" b="1" dirty="0"/>
              <a:t>Purpose:</a:t>
            </a:r>
            <a:r>
              <a:rPr lang="en-US" sz="5500" dirty="0"/>
              <a:t> Identify users, validate credentials, and map them to roles.</a:t>
            </a:r>
          </a:p>
          <a:p>
            <a:br>
              <a:rPr lang="en-US" b="1" dirty="0"/>
            </a:br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BEECB0-E6EF-BDD7-5F2A-E3A690676F41}"/>
              </a:ext>
            </a:extLst>
          </p:cNvPr>
          <p:cNvCxnSpPr>
            <a:cxnSpLocks/>
          </p:cNvCxnSpPr>
          <p:nvPr/>
        </p:nvCxnSpPr>
        <p:spPr>
          <a:xfrm>
            <a:off x="1212575" y="737148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76E1F0-0041-9390-EA12-63803F17EB57}"/>
              </a:ext>
            </a:extLst>
          </p:cNvPr>
          <p:cNvSpPr txBox="1"/>
          <p:nvPr/>
        </p:nvSpPr>
        <p:spPr>
          <a:xfrm>
            <a:off x="1299541" y="2253663"/>
            <a:ext cx="60976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ROLE CLASS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F5411C-F76D-2DA1-A274-473E2C01FD92}"/>
              </a:ext>
            </a:extLst>
          </p:cNvPr>
          <p:cNvSpPr txBox="1"/>
          <p:nvPr/>
        </p:nvSpPr>
        <p:spPr>
          <a:xfrm>
            <a:off x="1371599" y="2866073"/>
            <a:ext cx="63411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Defines different types of system access levels such as </a:t>
            </a:r>
            <a:r>
              <a:rPr lang="en-US" b="1" dirty="0"/>
              <a:t>Admin</a:t>
            </a:r>
            <a:r>
              <a:rPr lang="en-US" dirty="0"/>
              <a:t>, </a:t>
            </a:r>
            <a:r>
              <a:rPr lang="en-US" b="1" dirty="0"/>
              <a:t>Manager</a:t>
            </a:r>
            <a:r>
              <a:rPr lang="en-US" dirty="0"/>
              <a:t>, or </a:t>
            </a:r>
            <a:r>
              <a:rPr lang="en-US" b="1" dirty="0"/>
              <a:t>Staff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Purpose:</a:t>
            </a:r>
            <a:r>
              <a:rPr lang="en-US" dirty="0"/>
              <a:t> Control what features each user is allowed to perform inside the inventory system.</a:t>
            </a:r>
            <a:endParaRPr lang="en-US" b="1" dirty="0"/>
          </a:p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7176A6-88DA-BA65-A044-8CD8313149DB}"/>
              </a:ext>
            </a:extLst>
          </p:cNvPr>
          <p:cNvCxnSpPr>
            <a:cxnSpLocks/>
          </p:cNvCxnSpPr>
          <p:nvPr/>
        </p:nvCxnSpPr>
        <p:spPr>
          <a:xfrm>
            <a:off x="1212575" y="2787922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059485F-A2BF-5DD6-38E6-9CE3400C9457}"/>
              </a:ext>
            </a:extLst>
          </p:cNvPr>
          <p:cNvSpPr txBox="1">
            <a:spLocks/>
          </p:cNvSpPr>
          <p:nvPr/>
        </p:nvSpPr>
        <p:spPr>
          <a:xfrm>
            <a:off x="1371599" y="4985095"/>
            <a:ext cx="6848062" cy="1348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the complete authentication workflow such as verifying credentials, encrypting passwords, and managing user sessions.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secure login and protect inventory data from unauthorized access.</a:t>
            </a:r>
          </a:p>
          <a:p>
            <a:endParaRPr lang="en-I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F51454-0CA6-F510-588A-03E05E00E7B4}"/>
              </a:ext>
            </a:extLst>
          </p:cNvPr>
          <p:cNvCxnSpPr>
            <a:cxnSpLocks/>
          </p:cNvCxnSpPr>
          <p:nvPr/>
        </p:nvCxnSpPr>
        <p:spPr>
          <a:xfrm>
            <a:off x="1133062" y="5177899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830 Student Sitting In Class Cartoon Stock Photos, High-Res Pictures, and  Images - Getty Images">
            <a:extLst>
              <a:ext uri="{FF2B5EF4-FFF2-40B4-BE49-F238E27FC236}">
                <a16:creationId xmlns:a16="http://schemas.microsoft.com/office/drawing/2014/main" id="{52A1D4D5-2A9F-7287-2593-FAA0A56EC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575" y="882902"/>
            <a:ext cx="2238267" cy="1612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 61 | Cartoon designer Images - Free Download on Freepik">
            <a:extLst>
              <a:ext uri="{FF2B5EF4-FFF2-40B4-BE49-F238E27FC236}">
                <a16:creationId xmlns:a16="http://schemas.microsoft.com/office/drawing/2014/main" id="{7EFE8135-8BC1-5B8F-475B-9D581C3C8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575" y="3043599"/>
            <a:ext cx="2238267" cy="168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artoon authentication Images - Free Download on Freepik">
            <a:extLst>
              <a:ext uri="{FF2B5EF4-FFF2-40B4-BE49-F238E27FC236}">
                <a16:creationId xmlns:a16="http://schemas.microsoft.com/office/drawing/2014/main" id="{8F53C2B9-5615-88F8-713F-19B87234B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575" y="5108244"/>
            <a:ext cx="2238267" cy="158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446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E907-0AA3-40C6-14B0-B0A23917F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757" y="556592"/>
            <a:ext cx="6102626" cy="70567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/>
              <a:t>USER-CONTROLLER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12958-A0EF-056C-7A12-FD62C8430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427" y="1262270"/>
            <a:ext cx="8040756" cy="55957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Acts as the API layer between frontend and backend.</a:t>
            </a:r>
            <a:br>
              <a:rPr lang="en-US" dirty="0"/>
            </a:br>
            <a:r>
              <a:rPr lang="en-US" dirty="0"/>
              <a:t>Receives login/registration requests and communicates with authentication service.</a:t>
            </a:r>
          </a:p>
          <a:p>
            <a:r>
              <a:rPr lang="en-US" b="1" dirty="0"/>
              <a:t>Purpose:</a:t>
            </a:r>
            <a:r>
              <a:rPr lang="en-US" dirty="0"/>
              <a:t> Manage user-related operations like login, logout, and user creation.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 </a:t>
            </a:r>
            <a:r>
              <a:rPr lang="en-US" sz="2400" b="1" dirty="0"/>
              <a:t>ACTIVITY LOG CLASS</a:t>
            </a:r>
            <a:endParaRPr lang="en-US" b="1" dirty="0"/>
          </a:p>
          <a:p>
            <a:r>
              <a:rPr lang="en-US" sz="1800" dirty="0"/>
              <a:t>Captures every user action such as logging in, updating stock, adding products, or viewing reports.</a:t>
            </a:r>
          </a:p>
          <a:p>
            <a:r>
              <a:rPr lang="en-US" sz="1800" b="1" dirty="0"/>
              <a:t>Purpose:</a:t>
            </a:r>
            <a:r>
              <a:rPr lang="en-US" sz="1800" dirty="0"/>
              <a:t> Maintain transparency, traceability, and audit history within the inventory system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2050" name="Picture 2" descr="phishing website, outstretched hand inside smartphone holding fish hook to steal account information and password of network user, network security and virus, personal network account information security - e commerce website cartoon stock illustrations">
            <a:extLst>
              <a:ext uri="{FF2B5EF4-FFF2-40B4-BE49-F238E27FC236}">
                <a16:creationId xmlns:a16="http://schemas.microsoft.com/office/drawing/2014/main" id="{2B280F39-55FD-80AA-6592-6849194EA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791" y="1262269"/>
            <a:ext cx="2609850" cy="190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35+ Thousand Activity Log Royalty-Free Images, Stock Photos &amp; Pictures |  Shutterstock">
            <a:extLst>
              <a:ext uri="{FF2B5EF4-FFF2-40B4-BE49-F238E27FC236}">
                <a16:creationId xmlns:a16="http://schemas.microsoft.com/office/drawing/2014/main" id="{738C2462-DD1B-5749-4E2B-77417FC31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791" y="4431195"/>
            <a:ext cx="2609850" cy="1741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535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1F0B56-9510-E07F-5157-F7B5DE0C9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3545" y="1510159"/>
            <a:ext cx="7596451" cy="1086237"/>
          </a:xfrm>
        </p:spPr>
        <p:txBody>
          <a:bodyPr/>
          <a:lstStyle/>
          <a:p>
            <a:r>
              <a:rPr lang="en-IN" sz="4000" b="1" dirty="0">
                <a:solidFill>
                  <a:srgbClr val="C00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DATABASE SCHEMA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4FF813B-0F87-5A58-517A-56447B3C8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8323" y="3012062"/>
            <a:ext cx="6831673" cy="108623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/>
              <a:t>USER TABLE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/>
              <a:t>ROLE TABLE</a:t>
            </a:r>
          </a:p>
        </p:txBody>
      </p:sp>
    </p:spTree>
    <p:extLst>
      <p:ext uri="{BB962C8B-B14F-4D97-AF65-F5344CB8AC3E}">
        <p14:creationId xmlns:p14="http://schemas.microsoft.com/office/powerpoint/2010/main" val="3258954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61B371-D15B-D803-DE26-FA5BB85F2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5471630"/>
              </p:ext>
            </p:extLst>
          </p:nvPr>
        </p:nvGraphicFramePr>
        <p:xfrm>
          <a:off x="1321904" y="961275"/>
          <a:ext cx="9223512" cy="2926080"/>
        </p:xfrm>
        <a:graphic>
          <a:graphicData uri="http://schemas.openxmlformats.org/drawingml/2006/table">
            <a:tbl>
              <a:tblPr/>
              <a:tblGrid>
                <a:gridCol w="3050208">
                  <a:extLst>
                    <a:ext uri="{9D8B030D-6E8A-4147-A177-3AD203B41FA5}">
                      <a16:colId xmlns:a16="http://schemas.microsoft.com/office/drawing/2014/main" val="2612339148"/>
                    </a:ext>
                  </a:extLst>
                </a:gridCol>
                <a:gridCol w="3086652">
                  <a:extLst>
                    <a:ext uri="{9D8B030D-6E8A-4147-A177-3AD203B41FA5}">
                      <a16:colId xmlns:a16="http://schemas.microsoft.com/office/drawing/2014/main" val="3647069315"/>
                    </a:ext>
                  </a:extLst>
                </a:gridCol>
                <a:gridCol w="3086652">
                  <a:extLst>
                    <a:ext uri="{9D8B030D-6E8A-4147-A177-3AD203B41FA5}">
                      <a16:colId xmlns:a16="http://schemas.microsoft.com/office/drawing/2014/main" val="1695583491"/>
                    </a:ext>
                  </a:extLst>
                </a:gridCol>
              </a:tblGrid>
              <a:tr h="308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Field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811687"/>
                  </a:ext>
                </a:extLst>
              </a:tr>
              <a:tr h="308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user_id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 (PK, AUTO INCREMENT)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Unique ID for each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978943"/>
                  </a:ext>
                </a:extLst>
              </a:tr>
              <a:tr h="308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User full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408280"/>
                  </a:ext>
                </a:extLst>
              </a:tr>
              <a:tr h="308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Login email (unique)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878815"/>
                  </a:ext>
                </a:extLst>
              </a:tr>
              <a:tr h="308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Encrypted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486185"/>
                  </a:ext>
                </a:extLst>
              </a:tr>
              <a:tr h="308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contact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Mobile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827606"/>
                  </a:ext>
                </a:extLst>
              </a:tr>
              <a:tr h="540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role_id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INT (FK)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Links user to their role (Admin/Employee)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115848"/>
                  </a:ext>
                </a:extLst>
              </a:tr>
              <a:tr h="308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Active / Inactive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41561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E4D0923-233F-C6EF-4CC5-A4F22870E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599" y="345722"/>
            <a:ext cx="174928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105D0F-9AA0-5BC8-6252-81F88EA12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215109"/>
              </p:ext>
            </p:extLst>
          </p:nvPr>
        </p:nvGraphicFramePr>
        <p:xfrm>
          <a:off x="1133060" y="5187895"/>
          <a:ext cx="9601200" cy="10972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409555666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492076398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75343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Field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735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 (PK, AUTO INCREMENT)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 Role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929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role_name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Role type (Admin / Employee)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25004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A482511-1480-DB3E-B771-835BD42C002C}"/>
              </a:ext>
            </a:extLst>
          </p:cNvPr>
          <p:cNvSpPr txBox="1"/>
          <p:nvPr/>
        </p:nvSpPr>
        <p:spPr>
          <a:xfrm>
            <a:off x="1133060" y="450290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ROLES TABLES</a:t>
            </a:r>
          </a:p>
        </p:txBody>
      </p:sp>
    </p:spTree>
    <p:extLst>
      <p:ext uri="{BB962C8B-B14F-4D97-AF65-F5344CB8AC3E}">
        <p14:creationId xmlns:p14="http://schemas.microsoft.com/office/powerpoint/2010/main" val="3248733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CBA1F0-34D1-A70D-D3EF-E05BCDAC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rgbClr val="FF0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CODE SCREENSHOT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081F95-ABE8-482F-0699-A06959329D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15019E-119E-BBAD-56D5-80AA338BFD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CD60D8-3167-5A69-158D-7BA3F6AB75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45"/>
          <a:stretch>
            <a:fillRect/>
          </a:stretch>
        </p:blipFill>
        <p:spPr>
          <a:xfrm>
            <a:off x="1371600" y="1808923"/>
            <a:ext cx="8630824" cy="476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64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13DF8-EEF0-7C09-E4F2-19ECF7525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Testing GET &amp; POST APIs Using Thunder Client</a:t>
            </a:r>
            <a:endParaRPr lang="en-IN" sz="3600" dirty="0">
              <a:solidFill>
                <a:srgbClr val="00B050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4D766B-4070-190F-519D-9584BFE16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5776" y="1525657"/>
            <a:ext cx="8442274" cy="5118652"/>
          </a:xfrm>
        </p:spPr>
      </p:pic>
    </p:spTree>
    <p:extLst>
      <p:ext uri="{BB962C8B-B14F-4D97-AF65-F5344CB8AC3E}">
        <p14:creationId xmlns:p14="http://schemas.microsoft.com/office/powerpoint/2010/main" val="1945329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78CD3-222F-C0FC-5362-194998DCB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905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B05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DATABASE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2F4BEB-A8F5-9764-B486-C4993580D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1" y="1376363"/>
            <a:ext cx="8786190" cy="4942232"/>
          </a:xfrm>
        </p:spPr>
      </p:pic>
    </p:spTree>
    <p:extLst>
      <p:ext uri="{BB962C8B-B14F-4D97-AF65-F5344CB8AC3E}">
        <p14:creationId xmlns:p14="http://schemas.microsoft.com/office/powerpoint/2010/main" val="3977438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80DA5-6E44-A3A3-81C9-4CCDF8217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04461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B05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SIGN 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40B646-CD2E-040C-4474-8171C30D4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521"/>
          <a:stretch>
            <a:fillRect/>
          </a:stretch>
        </p:blipFill>
        <p:spPr>
          <a:xfrm>
            <a:off x="1292088" y="1709531"/>
            <a:ext cx="9163878" cy="4949687"/>
          </a:xfrm>
        </p:spPr>
      </p:pic>
    </p:spTree>
    <p:extLst>
      <p:ext uri="{BB962C8B-B14F-4D97-AF65-F5344CB8AC3E}">
        <p14:creationId xmlns:p14="http://schemas.microsoft.com/office/powerpoint/2010/main" val="3034261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97A0-283B-16ED-7C27-0930FB5AA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493" y="198783"/>
            <a:ext cx="9601200" cy="904460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ADMIN DASHBOARD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48D5740-65E8-8842-A872-AA3FEBF27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587"/>
          <a:stretch>
            <a:fillRect/>
          </a:stretch>
        </p:blipFill>
        <p:spPr>
          <a:xfrm>
            <a:off x="1371600" y="1359032"/>
            <a:ext cx="9792987" cy="5200794"/>
          </a:xfrm>
        </p:spPr>
      </p:pic>
    </p:spTree>
    <p:extLst>
      <p:ext uri="{BB962C8B-B14F-4D97-AF65-F5344CB8AC3E}">
        <p14:creationId xmlns:p14="http://schemas.microsoft.com/office/powerpoint/2010/main" val="3888450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785B87-F3E8-6463-5F5E-BBE577CED0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IN" b="1" cap="none" dirty="0">
                <a:ln/>
                <a:solidFill>
                  <a:schemeClr val="accent4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THANKU</a:t>
            </a:r>
          </a:p>
        </p:txBody>
      </p:sp>
    </p:spTree>
    <p:extLst>
      <p:ext uri="{BB962C8B-B14F-4D97-AF65-F5344CB8AC3E}">
        <p14:creationId xmlns:p14="http://schemas.microsoft.com/office/powerpoint/2010/main" val="164816419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378</TotalTime>
  <Words>767</Words>
  <Application>Microsoft Office PowerPoint</Application>
  <PresentationFormat>Widescreen</PresentationFormat>
  <Paragraphs>164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Franklin Gothic Book</vt:lpstr>
      <vt:lpstr>Times New Roman</vt:lpstr>
      <vt:lpstr>Wingdings</vt:lpstr>
      <vt:lpstr>Crop</vt:lpstr>
      <vt:lpstr>Inventra – Intelligent Inventory Management System</vt:lpstr>
      <vt:lpstr>Inventra = Inventory + Intelligent Automation A smart, automated system that continuously monitors stock, handles routine tasks, and enhances decision-making for efficient inventory management..</vt:lpstr>
      <vt:lpstr>Agenda  </vt:lpstr>
      <vt:lpstr>Existing System -(Challenges Faced)</vt:lpstr>
      <vt:lpstr>Smart Proposed System to Resolve Key Issues</vt:lpstr>
      <vt:lpstr>Number of Modules</vt:lpstr>
      <vt:lpstr>Authentication &amp; Role Control</vt:lpstr>
      <vt:lpstr>Transaction Logs &amp; Movement Tracting</vt:lpstr>
      <vt:lpstr>System Configuration</vt:lpstr>
      <vt:lpstr>ARCHITECTURE</vt:lpstr>
      <vt:lpstr>Authentication &amp; Role Control</vt:lpstr>
      <vt:lpstr>USER CLASS </vt:lpstr>
      <vt:lpstr>USER-CONTROLLER CLASS</vt:lpstr>
      <vt:lpstr>DATABASE SCHEMA</vt:lpstr>
      <vt:lpstr>USER TABLE </vt:lpstr>
      <vt:lpstr>CODE SCREENSHOT</vt:lpstr>
      <vt:lpstr>Testing GET &amp; POST APIs Using Thunder Client</vt:lpstr>
      <vt:lpstr>DATABASE</vt:lpstr>
      <vt:lpstr>SIGN IN</vt:lpstr>
      <vt:lpstr>ADMIN DASHBOARD</vt:lpstr>
      <vt:lpstr>THANKU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Nitish Kumar Chaudhary</dc:creator>
  <cp:lastModifiedBy>Nitish Kumar Chaudhary</cp:lastModifiedBy>
  <cp:revision>7</cp:revision>
  <dcterms:created xsi:type="dcterms:W3CDTF">2025-12-02T16:52:44Z</dcterms:created>
  <dcterms:modified xsi:type="dcterms:W3CDTF">2026-02-03T17:13:58Z</dcterms:modified>
</cp:coreProperties>
</file>